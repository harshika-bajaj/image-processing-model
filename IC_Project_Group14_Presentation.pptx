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Libra Serif Modern" charset="1" panose="02000503080000020004"/>
      <p:regular r:id="rId10"/>
    </p:embeddedFont>
    <p:embeddedFont>
      <p:font typeface="Glacial Indifference" charset="1" panose="0000000000000000000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2498674" y="5282423"/>
            <a:ext cx="1185862" cy="1185862"/>
          </a:xfrm>
          <a:custGeom>
            <a:avLst/>
            <a:gdLst/>
            <a:ahLst/>
            <a:cxnLst/>
            <a:rect r="r" b="b" t="t" l="l"/>
            <a:pathLst>
              <a:path h="1185862" w="1185862">
                <a:moveTo>
                  <a:pt x="0" y="0"/>
                </a:moveTo>
                <a:lnTo>
                  <a:pt x="1185863" y="0"/>
                </a:lnTo>
                <a:lnTo>
                  <a:pt x="1185863" y="1185863"/>
                </a:lnTo>
                <a:lnTo>
                  <a:pt x="0" y="118586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729658" y="1528615"/>
            <a:ext cx="10305595" cy="1557485"/>
          </a:xfrm>
          <a:prstGeom prst="rect">
            <a:avLst/>
          </a:prstGeom>
        </p:spPr>
        <p:txBody>
          <a:bodyPr anchor="t" rtlCol="false" tIns="0" lIns="0" bIns="0" rIns="0">
            <a:spAutoFit/>
          </a:bodyPr>
          <a:lstStyle/>
          <a:p>
            <a:pPr algn="ctr">
              <a:lnSpc>
                <a:spcPts val="10940"/>
              </a:lnSpc>
            </a:pPr>
            <a:r>
              <a:rPr lang="en-US" sz="13024">
                <a:solidFill>
                  <a:srgbClr val="000000"/>
                </a:solidFill>
                <a:latin typeface="Libra Serif Modern"/>
                <a:ea typeface="Libra Serif Modern"/>
                <a:cs typeface="Libra Serif Modern"/>
                <a:sym typeface="Libra Serif Modern"/>
              </a:rPr>
              <a:t>ICS PROJECT</a:t>
            </a:r>
          </a:p>
        </p:txBody>
      </p:sp>
      <p:sp>
        <p:nvSpPr>
          <p:cNvPr name="Freeform 13" id="13"/>
          <p:cNvSpPr/>
          <p:nvPr/>
        </p:nvSpPr>
        <p:spPr>
          <a:xfrm flipH="false" flipV="false" rot="0">
            <a:off x="13962142" y="2938462"/>
            <a:ext cx="1185862" cy="1185862"/>
          </a:xfrm>
          <a:custGeom>
            <a:avLst/>
            <a:gdLst/>
            <a:ahLst/>
            <a:cxnLst/>
            <a:rect r="r" b="b" t="t" l="l"/>
            <a:pathLst>
              <a:path h="1185862" w="1185862">
                <a:moveTo>
                  <a:pt x="0" y="0"/>
                </a:moveTo>
                <a:lnTo>
                  <a:pt x="1185863" y="0"/>
                </a:lnTo>
                <a:lnTo>
                  <a:pt x="1185863" y="1185863"/>
                </a:lnTo>
                <a:lnTo>
                  <a:pt x="0" y="118586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4" id="14"/>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15" id="15"/>
          <p:cNvSpPr txBox="true"/>
          <p:nvPr/>
        </p:nvSpPr>
        <p:spPr>
          <a:xfrm rot="0">
            <a:off x="2411286" y="3617119"/>
            <a:ext cx="12942339" cy="5885971"/>
          </a:xfrm>
          <a:prstGeom prst="rect">
            <a:avLst/>
          </a:prstGeom>
        </p:spPr>
        <p:txBody>
          <a:bodyPr anchor="t" rtlCol="false" tIns="0" lIns="0" bIns="0" rIns="0">
            <a:spAutoFit/>
          </a:bodyPr>
          <a:lstStyle/>
          <a:p>
            <a:pPr algn="ctr">
              <a:lnSpc>
                <a:spcPts val="5148"/>
              </a:lnSpc>
            </a:pPr>
            <a:r>
              <a:rPr lang="en-US" sz="5148">
                <a:solidFill>
                  <a:srgbClr val="000000"/>
                </a:solidFill>
                <a:latin typeface="Glacial Indifference"/>
                <a:ea typeface="Glacial Indifference"/>
                <a:cs typeface="Glacial Indifference"/>
                <a:sym typeface="Glacial Indifference"/>
              </a:rPr>
              <a:t>Instructor: Prof. Palash Das</a:t>
            </a:r>
          </a:p>
          <a:p>
            <a:pPr algn="ctr">
              <a:lnSpc>
                <a:spcPts val="5148"/>
              </a:lnSpc>
            </a:pPr>
          </a:p>
          <a:p>
            <a:pPr algn="ctr">
              <a:lnSpc>
                <a:spcPts val="5148"/>
              </a:lnSpc>
            </a:pPr>
            <a:r>
              <a:rPr lang="en-US" sz="5148">
                <a:solidFill>
                  <a:srgbClr val="000000"/>
                </a:solidFill>
                <a:latin typeface="Glacial Indifference"/>
                <a:ea typeface="Glacial Indifference"/>
                <a:cs typeface="Glacial Indifference"/>
                <a:sym typeface="Glacial Indifference"/>
              </a:rPr>
              <a:t>Presented by Group-14</a:t>
            </a:r>
          </a:p>
          <a:p>
            <a:pPr algn="ctr">
              <a:lnSpc>
                <a:spcPts val="5148"/>
              </a:lnSpc>
            </a:pPr>
          </a:p>
          <a:p>
            <a:pPr algn="ctr">
              <a:lnSpc>
                <a:spcPts val="5148"/>
              </a:lnSpc>
            </a:pPr>
            <a:r>
              <a:rPr lang="en-US" sz="5148">
                <a:solidFill>
                  <a:srgbClr val="000000"/>
                </a:solidFill>
                <a:latin typeface="Glacial Indifference"/>
                <a:ea typeface="Glacial Indifference"/>
                <a:cs typeface="Glacial Indifference"/>
                <a:sym typeface="Glacial Indifference"/>
              </a:rPr>
              <a:t>Monit Katariya               B25CM1032</a:t>
            </a:r>
          </a:p>
          <a:p>
            <a:pPr algn="ctr">
              <a:lnSpc>
                <a:spcPts val="5148"/>
              </a:lnSpc>
            </a:pPr>
            <a:r>
              <a:rPr lang="en-US" sz="5148">
                <a:solidFill>
                  <a:srgbClr val="000000"/>
                </a:solidFill>
                <a:latin typeface="Glacial Indifference"/>
                <a:ea typeface="Glacial Indifference"/>
                <a:cs typeface="Glacial Indifference"/>
                <a:sym typeface="Glacial Indifference"/>
              </a:rPr>
              <a:t>Ishita Kulshreshtha       B24ME1035</a:t>
            </a:r>
          </a:p>
          <a:p>
            <a:pPr algn="ctr">
              <a:lnSpc>
                <a:spcPts val="5148"/>
              </a:lnSpc>
            </a:pPr>
            <a:r>
              <a:rPr lang="en-US" sz="5148">
                <a:solidFill>
                  <a:srgbClr val="000000"/>
                </a:solidFill>
                <a:latin typeface="Glacial Indifference"/>
                <a:ea typeface="Glacial Indifference"/>
                <a:cs typeface="Glacial Indifference"/>
                <a:sym typeface="Glacial Indifference"/>
              </a:rPr>
              <a:t>Sanchi Agrawal             B25CH1002</a:t>
            </a:r>
          </a:p>
          <a:p>
            <a:pPr algn="ctr">
              <a:lnSpc>
                <a:spcPts val="5148"/>
              </a:lnSpc>
            </a:pPr>
            <a:r>
              <a:rPr lang="en-US" sz="5148">
                <a:solidFill>
                  <a:srgbClr val="000000"/>
                </a:solidFill>
                <a:latin typeface="Glacial Indifference"/>
                <a:ea typeface="Glacial Indifference"/>
                <a:cs typeface="Glacial Indifference"/>
                <a:sym typeface="Glacial Indifference"/>
              </a:rPr>
              <a:t>Tathya Patel                 B25CS1050</a:t>
            </a:r>
          </a:p>
          <a:p>
            <a:pPr algn="ctr">
              <a:lnSpc>
                <a:spcPts val="5148"/>
              </a:lnSpc>
            </a:pPr>
            <a:r>
              <a:rPr lang="en-US" sz="5148">
                <a:solidFill>
                  <a:srgbClr val="000000"/>
                </a:solidFill>
                <a:latin typeface="Glacial Indifference"/>
                <a:ea typeface="Glacial Indifference"/>
                <a:cs typeface="Glacial Indifference"/>
                <a:sym typeface="Glacial Indifference"/>
              </a:rPr>
              <a:t>Harshika Bajaj               B25MT1017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844182" y="2097408"/>
            <a:ext cx="10599637" cy="1212108"/>
          </a:xfrm>
          <a:prstGeom prst="rect">
            <a:avLst/>
          </a:prstGeom>
        </p:spPr>
        <p:txBody>
          <a:bodyPr anchor="t" rtlCol="false" tIns="0" lIns="0" bIns="0" rIns="0">
            <a:spAutoFit/>
          </a:bodyPr>
          <a:lstStyle/>
          <a:p>
            <a:pPr algn="ctr">
              <a:lnSpc>
                <a:spcPts val="8418"/>
              </a:lnSpc>
            </a:pPr>
            <a:r>
              <a:rPr lang="en-US" sz="10021">
                <a:solidFill>
                  <a:srgbClr val="000000"/>
                </a:solidFill>
                <a:latin typeface="Libra Serif Modern"/>
                <a:ea typeface="Libra Serif Modern"/>
                <a:cs typeface="Libra Serif Modern"/>
                <a:sym typeface="Libra Serif Modern"/>
              </a:rPr>
              <a:t>PROJECT TOPIC</a:t>
            </a:r>
          </a:p>
        </p:txBody>
      </p:sp>
      <p:sp>
        <p:nvSpPr>
          <p:cNvPr name="TextBox 13" id="13"/>
          <p:cNvSpPr txBox="true"/>
          <p:nvPr/>
        </p:nvSpPr>
        <p:spPr>
          <a:xfrm rot="0">
            <a:off x="3483981" y="4446605"/>
            <a:ext cx="11320038" cy="3030474"/>
          </a:xfrm>
          <a:prstGeom prst="rect">
            <a:avLst/>
          </a:prstGeom>
        </p:spPr>
        <p:txBody>
          <a:bodyPr anchor="t" rtlCol="false" tIns="0" lIns="0" bIns="0" rIns="0">
            <a:spAutoFit/>
          </a:bodyPr>
          <a:lstStyle/>
          <a:p>
            <a:pPr algn="ctr">
              <a:lnSpc>
                <a:spcPts val="5927"/>
              </a:lnSpc>
            </a:pPr>
            <a:r>
              <a:rPr lang="en-US" sz="5199">
                <a:solidFill>
                  <a:srgbClr val="000000"/>
                </a:solidFill>
                <a:latin typeface="Glacial Indifference"/>
                <a:ea typeface="Glacial Indifference"/>
                <a:cs typeface="Glacial Indifference"/>
                <a:sym typeface="Glacial Indifference"/>
              </a:rPr>
              <a:t>Read an image into a matrix, divide it into equal-size patches (e.g., 16×16×3), and identify the most important patches based on content scores.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844182" y="2102841"/>
            <a:ext cx="10599637" cy="1212108"/>
          </a:xfrm>
          <a:prstGeom prst="rect">
            <a:avLst/>
          </a:prstGeom>
        </p:spPr>
        <p:txBody>
          <a:bodyPr anchor="t" rtlCol="false" tIns="0" lIns="0" bIns="0" rIns="0">
            <a:spAutoFit/>
          </a:bodyPr>
          <a:lstStyle/>
          <a:p>
            <a:pPr algn="ctr">
              <a:lnSpc>
                <a:spcPts val="8418"/>
              </a:lnSpc>
            </a:pPr>
            <a:r>
              <a:rPr lang="en-US" sz="10021">
                <a:solidFill>
                  <a:srgbClr val="000000"/>
                </a:solidFill>
                <a:latin typeface="Libra Serif Modern"/>
                <a:ea typeface="Libra Serif Modern"/>
                <a:cs typeface="Libra Serif Modern"/>
                <a:sym typeface="Libra Serif Modern"/>
              </a:rPr>
              <a:t>INTRODUCTION</a:t>
            </a:r>
          </a:p>
        </p:txBody>
      </p:sp>
      <p:sp>
        <p:nvSpPr>
          <p:cNvPr name="TextBox 13" id="13"/>
          <p:cNvSpPr txBox="true"/>
          <p:nvPr/>
        </p:nvSpPr>
        <p:spPr>
          <a:xfrm rot="0">
            <a:off x="3483981" y="4084290"/>
            <a:ext cx="11320038" cy="4592955"/>
          </a:xfrm>
          <a:prstGeom prst="rect">
            <a:avLst/>
          </a:prstGeom>
        </p:spPr>
        <p:txBody>
          <a:bodyPr anchor="t" rtlCol="false" tIns="0" lIns="0" bIns="0" rIns="0">
            <a:spAutoFit/>
          </a:bodyPr>
          <a:lstStyle/>
          <a:p>
            <a:pPr algn="ctr">
              <a:lnSpc>
                <a:spcPts val="4559"/>
              </a:lnSpc>
            </a:pPr>
            <a:r>
              <a:rPr lang="en-US" sz="3999">
                <a:solidFill>
                  <a:srgbClr val="000000"/>
                </a:solidFill>
                <a:latin typeface="Glacial Indifference"/>
                <a:ea typeface="Glacial Indifference"/>
                <a:cs typeface="Glacial Indifference"/>
                <a:sym typeface="Glacial Indifference"/>
              </a:rPr>
              <a:t>This project implements a complete image processing pipeline in the C programming language, focusing on edge detection and patch-based analysis. It reads a BMP image, processes it through various stages of filtering and transformation, and outputs a visually enhanced version highlighting detected edges and edge-dense regions.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844182" y="1710691"/>
            <a:ext cx="10599637" cy="1191988"/>
          </a:xfrm>
          <a:prstGeom prst="rect">
            <a:avLst/>
          </a:prstGeom>
        </p:spPr>
        <p:txBody>
          <a:bodyPr anchor="t" rtlCol="false" tIns="0" lIns="0" bIns="0" rIns="0">
            <a:spAutoFit/>
          </a:bodyPr>
          <a:lstStyle/>
          <a:p>
            <a:pPr algn="ctr">
              <a:lnSpc>
                <a:spcPts val="8250"/>
              </a:lnSpc>
            </a:pPr>
            <a:r>
              <a:rPr lang="en-US" sz="9821">
                <a:solidFill>
                  <a:srgbClr val="000000"/>
                </a:solidFill>
                <a:latin typeface="Libra Serif Modern"/>
                <a:ea typeface="Libra Serif Modern"/>
                <a:cs typeface="Libra Serif Modern"/>
                <a:sym typeface="Libra Serif Modern"/>
              </a:rPr>
              <a:t>PRINCIPLES USED</a:t>
            </a:r>
          </a:p>
        </p:txBody>
      </p:sp>
      <p:sp>
        <p:nvSpPr>
          <p:cNvPr name="TextBox 13" id="13"/>
          <p:cNvSpPr txBox="true"/>
          <p:nvPr/>
        </p:nvSpPr>
        <p:spPr>
          <a:xfrm rot="0">
            <a:off x="3483981" y="3298921"/>
            <a:ext cx="11320038" cy="5948934"/>
          </a:xfrm>
          <a:prstGeom prst="rect">
            <a:avLst/>
          </a:prstGeom>
        </p:spPr>
        <p:txBody>
          <a:bodyPr anchor="t" rtlCol="false" tIns="0" lIns="0" bIns="0" rIns="0">
            <a:spAutoFit/>
          </a:bodyPr>
          <a:lstStyle/>
          <a:p>
            <a:pPr algn="l">
              <a:lnSpc>
                <a:spcPts val="3648"/>
              </a:lnSpc>
            </a:pPr>
            <a:r>
              <a:rPr lang="en-US" sz="3200">
                <a:solidFill>
                  <a:srgbClr val="000000"/>
                </a:solidFill>
                <a:latin typeface="Glacial Indifference"/>
                <a:ea typeface="Glacial Indifference"/>
                <a:cs typeface="Glacial Indifference"/>
                <a:sym typeface="Glacial Indifference"/>
              </a:rPr>
              <a:t>The main goal of this project is to understand and implement fundamental image processing operations such as:</a:t>
            </a:r>
          </a:p>
          <a:p>
            <a:pPr algn="l" marL="690881" indent="-345440" lvl="1">
              <a:lnSpc>
                <a:spcPts val="3648"/>
              </a:lnSpc>
              <a:buFont typeface="Arial"/>
              <a:buChar char="•"/>
            </a:pPr>
            <a:r>
              <a:rPr lang="en-US" sz="3200">
                <a:solidFill>
                  <a:srgbClr val="000000"/>
                </a:solidFill>
                <a:latin typeface="Glacial Indifference"/>
                <a:ea typeface="Glacial Indifference"/>
                <a:cs typeface="Glacial Indifference"/>
                <a:sym typeface="Glacial Indifference"/>
              </a:rPr>
              <a:t>Greyscale conversion</a:t>
            </a:r>
          </a:p>
          <a:p>
            <a:pPr algn="l" marL="690881" indent="-345440" lvl="1">
              <a:lnSpc>
                <a:spcPts val="3648"/>
              </a:lnSpc>
              <a:buFont typeface="Arial"/>
              <a:buChar char="•"/>
            </a:pPr>
            <a:r>
              <a:rPr lang="en-US" sz="3200">
                <a:solidFill>
                  <a:srgbClr val="000000"/>
                </a:solidFill>
                <a:latin typeface="Glacial Indifference"/>
                <a:ea typeface="Glacial Indifference"/>
                <a:cs typeface="Glacial Indifference"/>
                <a:sym typeface="Glacial Indifference"/>
              </a:rPr>
              <a:t>Gaussian blurring</a:t>
            </a:r>
          </a:p>
          <a:p>
            <a:pPr algn="l" marL="690881" indent="-345440" lvl="1">
              <a:lnSpc>
                <a:spcPts val="3648"/>
              </a:lnSpc>
              <a:buFont typeface="Arial"/>
              <a:buChar char="•"/>
            </a:pPr>
            <a:r>
              <a:rPr lang="en-US" sz="3200">
                <a:solidFill>
                  <a:srgbClr val="000000"/>
                </a:solidFill>
                <a:latin typeface="Glacial Indifference"/>
                <a:ea typeface="Glacial Indifference"/>
                <a:cs typeface="Glacial Indifference"/>
                <a:sym typeface="Glacial Indifference"/>
              </a:rPr>
              <a:t>Sobel edge detection</a:t>
            </a:r>
          </a:p>
          <a:p>
            <a:pPr algn="l" marL="690881" indent="-345440" lvl="1">
              <a:lnSpc>
                <a:spcPts val="3648"/>
              </a:lnSpc>
              <a:buFont typeface="Arial"/>
              <a:buChar char="•"/>
            </a:pPr>
            <a:r>
              <a:rPr lang="en-US" sz="3200">
                <a:solidFill>
                  <a:srgbClr val="000000"/>
                </a:solidFill>
                <a:latin typeface="Glacial Indifference"/>
                <a:ea typeface="Glacial Indifference"/>
                <a:cs typeface="Glacial Indifference"/>
                <a:sym typeface="Glacial Indifference"/>
              </a:rPr>
              <a:t>Canny edge refinement</a:t>
            </a:r>
          </a:p>
          <a:p>
            <a:pPr algn="l" marL="690881" indent="-345440" lvl="1">
              <a:lnSpc>
                <a:spcPts val="3648"/>
              </a:lnSpc>
              <a:buFont typeface="Arial"/>
              <a:buChar char="•"/>
            </a:pPr>
            <a:r>
              <a:rPr lang="en-US" sz="3200">
                <a:solidFill>
                  <a:srgbClr val="000000"/>
                </a:solidFill>
                <a:latin typeface="Glacial Indifference"/>
                <a:ea typeface="Glacial Indifference"/>
                <a:cs typeface="Glacial Indifference"/>
                <a:sym typeface="Glacial Indifference"/>
              </a:rPr>
              <a:t>Hysteresis thresholding</a:t>
            </a:r>
          </a:p>
          <a:p>
            <a:pPr algn="l" marL="690881" indent="-345440" lvl="1">
              <a:lnSpc>
                <a:spcPts val="3648"/>
              </a:lnSpc>
              <a:buFont typeface="Arial"/>
              <a:buChar char="•"/>
            </a:pPr>
            <a:r>
              <a:rPr lang="en-US" sz="3200">
                <a:solidFill>
                  <a:srgbClr val="000000"/>
                </a:solidFill>
                <a:latin typeface="Glacial Indifference"/>
                <a:ea typeface="Glacial Indifference"/>
                <a:cs typeface="Glacial Indifference"/>
                <a:sym typeface="Glacial Indifference"/>
              </a:rPr>
              <a:t>Patch-based edge density mapping</a:t>
            </a:r>
          </a:p>
          <a:p>
            <a:pPr algn="l">
              <a:lnSpc>
                <a:spcPts val="3648"/>
              </a:lnSpc>
            </a:pPr>
            <a:r>
              <a:rPr lang="en-US" sz="3200">
                <a:solidFill>
                  <a:srgbClr val="000000"/>
                </a:solidFill>
                <a:latin typeface="Glacial Indifference"/>
                <a:ea typeface="Glacial Indifference"/>
                <a:cs typeface="Glacial Indifference"/>
                <a:sym typeface="Glacial Indifference"/>
              </a:rPr>
              <a:t>By using these steps, the program identifies and emphasizes areas in an image where edges (sudden intensity changes) are most concentrated, which can be useful for tasks like object detection, image segmentation, and region-of-interest analysis.</a:t>
            </a:r>
          </a:p>
          <a:p>
            <a:pPr algn="r">
              <a:lnSpc>
                <a:spcPts val="3648"/>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DAG4YUPOsQY</dc:identifier>
  <dcterms:modified xsi:type="dcterms:W3CDTF">2011-08-01T06:04:30Z</dcterms:modified>
  <cp:revision>1</cp:revision>
  <dc:title>Brown Green Aesthetic Group Project Presentation</dc:title>
</cp:coreProperties>
</file>